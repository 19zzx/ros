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2" r:id="rId4"/>
    <p:sldId id="258" r:id="rId5"/>
    <p:sldId id="259" r:id="rId6"/>
    <p:sldId id="260" r:id="rId7"/>
    <p:sldId id="263" r:id="rId8"/>
    <p:sldId id="261" r:id="rId9"/>
    <p:sldId id="265" r:id="rId10"/>
    <p:sldId id="266" r:id="rId11"/>
    <p:sldId id="267" r:id="rId12"/>
    <p:sldId id="268" r:id="rId13"/>
    <p:sldId id="269" r:id="rId14"/>
    <p:sldId id="26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段文本_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1219200" y="2590800"/>
            <a:ext cx="975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1219200" y="3352800"/>
            <a:ext cx="975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ROS</a:t>
            </a:r>
            <a:r>
              <a:rPr lang="zh-CN" altLang="en-US"/>
              <a:t>工作空间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93432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用于存放项目开发的所有文件，开发的基础单元</a:t>
            </a:r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创建工作空间</a:t>
            </a:r>
          </a:p>
          <a:p>
            <a:pPr marL="0" indent="0">
              <a:buNone/>
            </a:pPr>
            <a:r>
              <a:rPr lang="en-US" altLang="zh-CN" sz="24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mkdir</a:t>
            </a:r>
            <a:r>
              <a:rPr lang="en-US" altLang="zh-CN" sz="24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-p </a:t>
            </a:r>
            <a:r>
              <a:rPr lang="en-US" altLang="zh-CN" sz="24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ws</a:t>
            </a:r>
            <a:r>
              <a:rPr lang="en-US" altLang="zh-CN" sz="24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/</a:t>
            </a:r>
            <a:r>
              <a:rPr lang="en-US" altLang="zh-CN" sz="24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src</a:t>
            </a:r>
            <a:r>
              <a:rPr lang="en-US" altLang="zh-CN" sz="24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	#</a:t>
            </a:r>
            <a:r>
              <a:rPr lang="zh-CN" altLang="en-US" sz="24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创建工作空间目录和用于存放软件包的</a:t>
            </a:r>
            <a:r>
              <a:rPr lang="en-US" altLang="zh-CN" sz="24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src</a:t>
            </a:r>
            <a:r>
              <a:rPr lang="zh-CN" altLang="en-US" sz="24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目录</a:t>
            </a:r>
          </a:p>
          <a:p>
            <a:pPr marL="0" indent="0">
              <a:buNone/>
            </a:pPr>
            <a:endParaRPr lang="zh-CN" altLang="en-US" sz="24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编译工作空间</a:t>
            </a: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cd </a:t>
            </a:r>
            <a:r>
              <a:rPr lang="en-US" altLang="zh-CN" sz="24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ws</a:t>
            </a:r>
            <a:r>
              <a:rPr lang="en-US" altLang="zh-CN" sz="24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			#</a:t>
            </a:r>
            <a:r>
              <a:rPr lang="zh-CN" altLang="en-US" sz="24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进入到工作空间目录</a:t>
            </a:r>
          </a:p>
          <a:p>
            <a:pPr marL="0" indent="0">
              <a:buNone/>
            </a:pPr>
            <a:r>
              <a:rPr lang="en-US" altLang="zh-CN" sz="24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colcon</a:t>
            </a:r>
            <a:r>
              <a:rPr lang="en-US" altLang="zh-CN" sz="24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build		#</a:t>
            </a:r>
            <a:r>
              <a:rPr lang="zh-CN" altLang="en-US" sz="24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编译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ROS</a:t>
            </a:r>
            <a:r>
              <a:rPr lang="zh-CN" altLang="en-US"/>
              <a:t>软件包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ROS </a:t>
            </a:r>
            <a:r>
              <a:rPr lang="zh-CN" altLang="en-US" sz="2000" dirty="0"/>
              <a:t>软件通过包的形式进行组织，是在</a:t>
            </a:r>
            <a:r>
              <a:rPr lang="en-US" altLang="zh-CN" sz="2000" dirty="0"/>
              <a:t>ROS 2</a:t>
            </a:r>
            <a:r>
              <a:rPr lang="zh-CN" altLang="en-US" sz="2000" dirty="0"/>
              <a:t>中进行功能开发、分享和部署的最小单元，一个工作空间包含若干软件包。</a:t>
            </a:r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创建软件包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cd 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ws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/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src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		#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进入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src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目录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ros2 pkg create &lt;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package_name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&gt; --build-type &lt;build-type&gt; --dependencies &lt;dependencies&gt; --node-name &lt;node-name&gt;</a:t>
            </a:r>
            <a:endParaRPr lang="en-US" altLang="zh-CN" sz="20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ROS</a:t>
            </a:r>
            <a:r>
              <a:rPr lang="zh-CN" altLang="en-US">
                <a:sym typeface="+mn-ea"/>
              </a:rPr>
              <a:t>软件包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6685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ros2 pkg create &lt;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package_name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&gt; --build-type &lt;build-type&gt; --dependencies &lt;dependencies&gt; --node-name &lt;node-name&gt;</a:t>
            </a:r>
          </a:p>
          <a:p>
            <a:pPr marL="0" indent="0">
              <a:buNone/>
            </a:pPr>
            <a:endParaRPr lang="en-US" altLang="zh-CN" sz="20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pkg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：表示使用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ros2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命令工具中功能包相关的功能；</a:t>
            </a:r>
            <a:endParaRPr lang="zh-CN" altLang="en-US" sz="20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create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：创建功能包；</a:t>
            </a:r>
            <a:endParaRPr lang="zh-CN" altLang="en-US" sz="20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package_name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：新建功能包的名字；</a:t>
            </a:r>
            <a:endParaRPr lang="zh-CN" altLang="en-US" sz="20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build-type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：表示新创建的功能包是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C++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还是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Python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的，如果使用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C++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或者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，那这里就跟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ament_cmake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，如果使用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Python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，就跟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ament_python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；</a:t>
            </a:r>
            <a:endParaRPr lang="zh-CN" altLang="en-US" sz="20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dependencies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：功能包的依赖项，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C++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功能包需包含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rclcpp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，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Python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功能包需包含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rclpy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,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以及其它需要的依赖；</a:t>
            </a:r>
            <a:endParaRPr lang="zh-CN" altLang="en-US" sz="20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node-name(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可选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)</a:t>
            </a: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：可执行程序的名称，会自动生成对应的源文件并生成配置文件；</a:t>
            </a:r>
            <a:endParaRPr lang="zh-CN" altLang="en-US" sz="20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ros2 pkg create 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my_interfaces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--build-type 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ament_python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--dependencies 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rclpy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--node-name 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helloworld</a:t>
            </a:r>
            <a:endParaRPr lang="en-US" altLang="zh-CN" sz="20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endParaRPr lang="zh-CN" altLang="en-US" sz="20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示例：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ros2 pkg create 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pkg_helloworld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--build-type 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ament_python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--dependencies 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rclpy</a:t>
            </a:r>
            <a:r>
              <a:rPr lang="en-US" altLang="zh-CN" sz="2000" dirty="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--node-name </a:t>
            </a:r>
            <a:r>
              <a:rPr lang="en-US" altLang="zh-CN" sz="2000" dirty="0" err="1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helloworld</a:t>
            </a:r>
            <a:endParaRPr lang="en-US" altLang="zh-CN" sz="20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endParaRPr lang="zh-CN" altLang="en-US" sz="2000" dirty="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ROS</a:t>
            </a:r>
            <a:r>
              <a:rPr lang="zh-CN" altLang="en-US"/>
              <a:t>计算图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描述整个系统运行时所有进程和数据流的抽象视图</a:t>
            </a: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查看计算图</a:t>
            </a: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ros2 run rqt_graph </a:t>
            </a:r>
            <a:r>
              <a:rPr lang="en-US" altLang="zh-CN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rqt_graph</a:t>
            </a:r>
          </a:p>
          <a:p>
            <a:pPr marL="0" indent="0">
              <a:buNone/>
            </a:pPr>
            <a:endParaRPr lang="zh-CN" altLang="en-US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完全限定名称与命名空间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完全限定名称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用于唯一标识一个计算图资源（节点、话题等）的完整路径名，是命名空间和名称的组合</a:t>
            </a:r>
          </a:p>
          <a:p>
            <a:pPr marL="0" indent="0"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命名空间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使得在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计算图中使用两个名称相同的资源成为可能，这对于功能模块化、多机管理都是很有益的。</a:t>
            </a:r>
          </a:p>
          <a:p>
            <a:pPr marL="0" indent="0"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节点默认的命名空间为根空间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“/”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示例：</a:t>
            </a:r>
          </a:p>
          <a:p>
            <a:pPr marL="0" indent="0">
              <a:buNone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/robot1/radar1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en-US" altLang="zh-CN" sz="2400">
                <a:solidFill>
                  <a:schemeClr val="accent1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status</a:t>
            </a:r>
          </a:p>
          <a:p>
            <a:pPr marL="0" indent="0">
              <a:buNone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命名空间</a:t>
            </a:r>
            <a:r>
              <a:rPr lang="en-US" altLang="zh-CN" sz="2400">
                <a:solidFill>
                  <a:schemeClr val="accent1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	    </a:t>
            </a:r>
            <a:r>
              <a:rPr lang="zh-CN" altLang="en-US" sz="2400">
                <a:solidFill>
                  <a:schemeClr val="accent1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名称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0005"/>
            <a:ext cx="10515600" cy="1325563"/>
          </a:xfrm>
        </p:spPr>
        <p:txBody>
          <a:bodyPr/>
          <a:lstStyle/>
          <a:p>
            <a:r>
              <a:rPr lang="zh-CN" altLang="en-US">
                <a:sym typeface="+mn-ea"/>
              </a:rPr>
              <a:t>完全限定名称与命名空间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32840"/>
            <a:ext cx="10515600" cy="5587365"/>
          </a:xfrm>
        </p:spPr>
        <p:txBody>
          <a:bodyPr>
            <a:normAutofit fontScale="97500" lnSpcReduction="10000"/>
          </a:bodyPr>
          <a:lstStyle/>
          <a:p>
            <a:pPr marL="0" indent="0">
              <a:buNone/>
            </a:pPr>
            <a:r>
              <a:rPr lang="zh-CN" altLang="en-US" sz="1800"/>
              <a:t>在代码中使用的</a:t>
            </a:r>
            <a:r>
              <a:rPr lang="en-US" altLang="zh-CN" sz="1800"/>
              <a:t>3</a:t>
            </a:r>
            <a:r>
              <a:rPr lang="zh-CN" altLang="en-US" sz="1800"/>
              <a:t>种名称：</a:t>
            </a:r>
          </a:p>
          <a:p>
            <a:pPr marL="0" indent="0">
              <a:buNone/>
            </a:pPr>
            <a:r>
              <a:rPr lang="zh-CN" altLang="en-US" sz="1800"/>
              <a:t>以</a:t>
            </a:r>
            <a:r>
              <a:rPr lang="en-US" altLang="zh-CN" sz="1800"/>
              <a:t>test_namespace</a:t>
            </a:r>
            <a:r>
              <a:rPr lang="zh-CN" altLang="en-US" sz="1800"/>
              <a:t>中的</a:t>
            </a:r>
            <a:r>
              <a:rPr lang="en-US" altLang="zh-CN" sz="1800"/>
              <a:t>pub</a:t>
            </a:r>
            <a:r>
              <a:rPr lang="zh-CN" altLang="en-US" sz="1800"/>
              <a:t>节点的代码为例，创建三种路径的话题发布者：</a:t>
            </a:r>
          </a:p>
          <a:p>
            <a:pPr marL="0" indent="0">
              <a:buNone/>
            </a:pPr>
            <a:r>
              <a:rPr lang="en-US" altLang="zh-CN" sz="1800"/>
              <a:t>1</a:t>
            </a:r>
            <a:r>
              <a:rPr lang="zh-CN" altLang="en-US" sz="1800"/>
              <a:t>、全局名称</a:t>
            </a:r>
          </a:p>
          <a:p>
            <a:pPr marL="0" indent="0">
              <a:buNone/>
            </a:pPr>
            <a:r>
              <a:rPr lang="zh-CN" altLang="en-US" sz="1800"/>
              <a:t>以</a:t>
            </a:r>
            <a:r>
              <a:rPr lang="en-US" altLang="zh-CN" sz="1800"/>
              <a:t>“/”</a:t>
            </a:r>
            <a:r>
              <a:rPr lang="zh-CN" altLang="en-US" sz="1800"/>
              <a:t>开头，直接指定资源的完整路径，无需再考虑命名空间</a:t>
            </a:r>
          </a:p>
          <a:p>
            <a:pPr marL="0" indent="0">
              <a:buNone/>
            </a:pPr>
            <a:r>
              <a:rPr lang="en-US" altLang="zh-CN" sz="1800"/>
              <a:t>self.pub_global = self.create_publisher(String, '/global_topic', 10)</a:t>
            </a:r>
          </a:p>
          <a:p>
            <a:pPr marL="0" indent="0">
              <a:buNone/>
            </a:pPr>
            <a:r>
              <a:rPr lang="en-US" altLang="zh-CN" sz="1800"/>
              <a:t>#</a:t>
            </a:r>
            <a:r>
              <a:rPr lang="zh-CN" altLang="en-US" sz="1800"/>
              <a:t>最终解析名称为</a:t>
            </a:r>
            <a:r>
              <a:rPr lang="en-US" altLang="zh-CN" sz="1800">
                <a:sym typeface="+mn-ea"/>
              </a:rPr>
              <a:t>/global_topic</a:t>
            </a:r>
            <a:endParaRPr lang="en-US" altLang="zh-CN" sz="1800"/>
          </a:p>
          <a:p>
            <a:pPr marL="0" indent="0">
              <a:buNone/>
            </a:pP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2</a:t>
            </a:r>
            <a:r>
              <a:rPr lang="zh-CN" altLang="en-US" sz="1800"/>
              <a:t>、相对名称</a:t>
            </a:r>
          </a:p>
          <a:p>
            <a:pPr marL="0" indent="0">
              <a:buNone/>
            </a:pPr>
            <a:r>
              <a:rPr lang="zh-CN" altLang="en-US" sz="1800"/>
              <a:t>解析时会自动添加节点的命名空间作为前缀</a:t>
            </a:r>
          </a:p>
          <a:p>
            <a:pPr marL="0" indent="0">
              <a:buNone/>
            </a:pPr>
            <a:r>
              <a:rPr lang="en-US" altLang="zh-CN" sz="1800"/>
              <a:t>self.pub_relative = self.create_publisher(String, 'relative_topic', 10)</a:t>
            </a:r>
          </a:p>
          <a:p>
            <a:pPr marL="0" indent="0">
              <a:buNone/>
            </a:pPr>
            <a:r>
              <a:rPr lang="en-US" altLang="zh-CN" sz="1800">
                <a:sym typeface="+mn-ea"/>
              </a:rPr>
              <a:t>#</a:t>
            </a:r>
            <a:r>
              <a:rPr lang="zh-CN" altLang="en-US" sz="1800">
                <a:sym typeface="+mn-ea"/>
              </a:rPr>
              <a:t>最终解析名称为</a:t>
            </a:r>
            <a:r>
              <a:rPr lang="en-US" altLang="zh-CN" sz="1800">
                <a:sym typeface="+mn-ea"/>
              </a:rPr>
              <a:t>/test_namespace/global_topic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3</a:t>
            </a:r>
            <a:r>
              <a:rPr lang="zh-CN" altLang="en-US" sz="1800"/>
              <a:t>、私有名称</a:t>
            </a:r>
          </a:p>
          <a:p>
            <a:pPr marL="0" indent="0">
              <a:buNone/>
            </a:pPr>
            <a:r>
              <a:rPr lang="zh-CN" altLang="en-US" sz="1800"/>
              <a:t>以波浪号</a:t>
            </a:r>
            <a:r>
              <a:rPr lang="en-US" altLang="zh-CN" sz="1800"/>
              <a:t> ~ </a:t>
            </a:r>
            <a:r>
              <a:rPr lang="zh-CN" altLang="en-US" sz="1800"/>
              <a:t>开头。解析时会自动添加节点的全名作为前缀</a:t>
            </a:r>
          </a:p>
          <a:p>
            <a:pPr marL="0" indent="0">
              <a:buNone/>
            </a:pPr>
            <a:r>
              <a:rPr lang="en-US" altLang="zh-CN" sz="1800">
                <a:sym typeface="+mn-ea"/>
              </a:rPr>
              <a:t>self.pub_relative = self.create_publisher(String, '~/private_topic', 10)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>
                <a:sym typeface="+mn-ea"/>
              </a:rPr>
              <a:t>#</a:t>
            </a:r>
            <a:r>
              <a:rPr lang="zh-CN" altLang="en-US" sz="1800">
                <a:sym typeface="+mn-ea"/>
              </a:rPr>
              <a:t>最终解析名称为</a:t>
            </a:r>
            <a:r>
              <a:rPr lang="en-US" altLang="zh-CN" sz="1800">
                <a:sym typeface="+mn-ea"/>
              </a:rPr>
              <a:t>/test_namespace/pub/global_topic</a:t>
            </a:r>
            <a:endParaRPr lang="zh-CN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命名空间的设置和重映射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设置节点的命名空间</a:t>
            </a: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ros2 run pkg_name node_name --ros-args -r __ns:=/my_namespace</a:t>
            </a:r>
          </a:p>
          <a:p>
            <a:pPr marL="0" indent="0">
              <a:buNone/>
            </a:pPr>
            <a:endParaRPr lang="en-US" altLang="zh-CN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zh-CN" altLang="en-US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重映射资源的命名空间</a:t>
            </a:r>
          </a:p>
          <a:p>
            <a:pPr marL="0" indent="0">
              <a:buNone/>
            </a:pPr>
            <a:r>
              <a:rPr lang="zh-CN" altLang="en-US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如节点</a:t>
            </a:r>
            <a:r>
              <a:rPr lang="en-US" altLang="zh-CN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node1</a:t>
            </a:r>
            <a:r>
              <a:rPr lang="zh-CN" altLang="en-US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中发布了</a:t>
            </a:r>
            <a:r>
              <a:rPr lang="en-US" altLang="zh-CN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topic1</a:t>
            </a:r>
            <a:r>
              <a:rPr lang="zh-CN" altLang="en-US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话题，我们将其映射到</a:t>
            </a:r>
            <a:r>
              <a:rPr lang="en-US" altLang="zh-CN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my_namespace</a:t>
            </a:r>
            <a:r>
              <a:rPr lang="zh-CN" altLang="en-US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的</a:t>
            </a:r>
            <a:r>
              <a:rPr lang="en-US" altLang="zh-CN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topic1</a:t>
            </a:r>
            <a:r>
              <a:rPr lang="zh-CN" altLang="en-US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话题</a:t>
            </a:r>
          </a:p>
          <a:p>
            <a:pPr marL="0" indent="0">
              <a:buNone/>
            </a:pPr>
            <a:r>
              <a:rPr lang="en-US" altLang="zh-CN" sz="240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ros2 run pkg_name node1 --ros-args -r topic1:=/my_namespace/topic1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话题通信：发布方实现（部分代码）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464310"/>
            <a:ext cx="10515600" cy="4712970"/>
          </a:xfrm>
        </p:spPr>
        <p:txBody>
          <a:bodyPr>
            <a:normAutofit fontScale="47500" lnSpcReduction="10000"/>
          </a:bodyPr>
          <a:lstStyle/>
          <a:p>
            <a:pPr marL="0" indent="0">
              <a:buNone/>
            </a:pPr>
            <a:endParaRPr lang="en-US" altLang="zh-CN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from std_msgs.msg import String</a:t>
            </a: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class Topic_Pub(Node):</a:t>
            </a: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def __init__(self,name):</a:t>
            </a: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    super().__init__(name)</a:t>
            </a: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    #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创建一个发布者，使用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create_publisher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的函数</a:t>
            </a: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    #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参数：话题数据类型、话题名称、保存消息的队列长度</a:t>
            </a: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    self.pub = self.create_publisher(String,"/topic_demo",1) </a:t>
            </a: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    #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创建一个定时器，间隔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1s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进入中断处理函数</a:t>
            </a: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    #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参数：中断函数执行的间隔时间，中断处理函数</a:t>
            </a: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    self.timer = self.create_timer(1,self.pub_msg)</a:t>
            </a: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#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定义中断处理函数</a:t>
            </a: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def pub_msg(self):</a:t>
            </a: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    msg = String()	#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创建一个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String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类型的变量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msg</a:t>
            </a: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    msg.data = "Hi,I send a message." #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给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msg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里边的</a:t>
            </a: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data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赋值</a:t>
            </a:r>
          </a:p>
          <a:p>
            <a:pPr marL="0" indent="0">
              <a:buNone/>
            </a:pPr>
            <a:r>
              <a:rPr lang="en-US" altLang="zh-CN">
                <a:latin typeface="Consolas" panose="020B0609020204030204" charset="0"/>
                <a:cs typeface="Consolas" panose="020B0609020204030204" charset="0"/>
              </a:rPr>
              <a:t>        self.pub.publish(msg) #</a:t>
            </a:r>
            <a:r>
              <a:rPr lang="zh-CN" altLang="en-US">
                <a:latin typeface="Consolas" panose="020B0609020204030204" charset="0"/>
                <a:cs typeface="Consolas" panose="020B0609020204030204" charset="0"/>
              </a:rPr>
              <a:t>发布话题数据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话题通信：订阅方实现（部分代码）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algn="l">
              <a:buClrTx/>
              <a:buSzTx/>
              <a:buNone/>
            </a:pPr>
            <a:r>
              <a:rPr lang="zh-CN" altLang="en-US" sz="1400">
                <a:latin typeface="Consolas" panose="020B0609020204030204" charset="0"/>
                <a:cs typeface="Consolas" panose="020B0609020204030204" charset="0"/>
              </a:rPr>
              <a:t>class Topic_Sub(Node):</a:t>
            </a:r>
          </a:p>
          <a:p>
            <a:pPr marL="0" algn="l">
              <a:buClrTx/>
              <a:buSzTx/>
              <a:buNone/>
            </a:pPr>
            <a:r>
              <a:rPr lang="zh-CN" altLang="en-US" sz="1400">
                <a:latin typeface="Consolas" panose="020B0609020204030204" charset="0"/>
                <a:cs typeface="Consolas" panose="020B0609020204030204" charset="0"/>
              </a:rPr>
              <a:t>	def __init__(self,name):</a:t>
            </a:r>
          </a:p>
          <a:p>
            <a:pPr marL="0" algn="l">
              <a:buClrTx/>
              <a:buSzTx/>
              <a:buNone/>
            </a:pPr>
            <a:r>
              <a:rPr lang="zh-CN" altLang="en-US" sz="1400">
                <a:latin typeface="Consolas" panose="020B0609020204030204" charset="0"/>
                <a:cs typeface="Consolas" panose="020B0609020204030204" charset="0"/>
              </a:rPr>
              <a:t>		super().__init__(name)	</a:t>
            </a:r>
          </a:p>
          <a:p>
            <a:pPr marL="0" algn="l">
              <a:buClrTx/>
              <a:buSzTx/>
              <a:buNone/>
            </a:pPr>
            <a:r>
              <a:rPr lang="zh-CN" altLang="en-US" sz="1400">
                <a:latin typeface="Consolas" panose="020B0609020204030204" charset="0"/>
                <a:cs typeface="Consolas" panose="020B0609020204030204" charset="0"/>
              </a:rPr>
              <a:t>        #创建订阅者使用的是create_subscription</a:t>
            </a:r>
          </a:p>
          <a:p>
            <a:pPr marL="0" algn="l">
              <a:buClrTx/>
              <a:buSzTx/>
              <a:buNone/>
            </a:pPr>
            <a:r>
              <a:rPr lang="zh-CN" altLang="en-US" sz="1400">
                <a:latin typeface="Consolas" panose="020B0609020204030204" charset="0"/>
                <a:cs typeface="Consolas" panose="020B0609020204030204" charset="0"/>
              </a:rPr>
              <a:t>        #参数：话题数据类型，话题名称，回调函数名称，队列长度</a:t>
            </a:r>
          </a:p>
          <a:p>
            <a:pPr marL="0" algn="l">
              <a:buClrTx/>
              <a:buSzTx/>
              <a:buNone/>
            </a:pPr>
            <a:r>
              <a:rPr lang="zh-CN" altLang="en-US" sz="1400">
                <a:latin typeface="Consolas" panose="020B0609020204030204" charset="0"/>
                <a:cs typeface="Consolas" panose="020B0609020204030204" charset="0"/>
              </a:rPr>
              <a:t>		self.sub = self.create_subscription(String,"/topic_demo",self.sub_callback,1) </a:t>
            </a:r>
          </a:p>
          <a:p>
            <a:pPr marL="0" algn="l">
              <a:buClrTx/>
              <a:buSzTx/>
              <a:buNone/>
            </a:pPr>
            <a:r>
              <a:rPr lang="zh-CN" altLang="en-US" sz="1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>
                <a:latin typeface="Consolas" panose="020B0609020204030204" charset="0"/>
                <a:cs typeface="Consolas" panose="020B0609020204030204" charset="0"/>
              </a:rPr>
              <a:t>	</a:t>
            </a:r>
            <a:r>
              <a:rPr lang="zh-CN" altLang="en-US" sz="1400">
                <a:latin typeface="Consolas" panose="020B0609020204030204" charset="0"/>
                <a:cs typeface="Consolas" panose="020B0609020204030204" charset="0"/>
              </a:rPr>
              <a:t>#回调函数,在订阅者收到信息后执行</a:t>
            </a:r>
          </a:p>
          <a:p>
            <a:pPr marL="0" algn="l">
              <a:buClrTx/>
              <a:buSzTx/>
              <a:buNone/>
            </a:pPr>
            <a:r>
              <a:rPr lang="zh-CN" altLang="en-US" sz="1400">
                <a:latin typeface="Consolas" panose="020B0609020204030204" charset="0"/>
                <a:cs typeface="Consolas" panose="020B0609020204030204" charset="0"/>
              </a:rPr>
              <a:t>	def sub_callback(self,msg):</a:t>
            </a:r>
          </a:p>
          <a:p>
            <a:pPr marL="0" algn="l">
              <a:buClrTx/>
              <a:buSzTx/>
              <a:buNone/>
            </a:pPr>
            <a:r>
              <a:rPr lang="zh-CN" altLang="en-US" sz="1400">
                <a:latin typeface="Consolas" panose="020B0609020204030204" charset="0"/>
                <a:cs typeface="Consolas" panose="020B0609020204030204" charset="0"/>
              </a:rPr>
              <a:t>		print(msg.data)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/>
          <a:lstStyle/>
          <a:p>
            <a:r>
              <a:rPr lang="zh-CN" altLang="en-US">
                <a:sym typeface="+mn-ea"/>
              </a:rPr>
              <a:t>话题通信：自定义消息接口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4749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>
                <a:latin typeface="+mn-ea"/>
                <a:cs typeface="+mn-ea"/>
              </a:rPr>
              <a:t>1</a:t>
            </a:r>
            <a:r>
              <a:rPr lang="zh-CN" altLang="en-US" sz="2400">
                <a:latin typeface="+mn-ea"/>
                <a:cs typeface="+mn-ea"/>
              </a:rPr>
              <a:t>、创捷功能接口</a:t>
            </a:r>
            <a:r>
              <a:rPr lang="en-US" altLang="zh-CN" sz="2400">
                <a:latin typeface="+mn-ea"/>
                <a:cs typeface="+mn-ea"/>
              </a:rPr>
              <a:t>C++</a:t>
            </a:r>
            <a:r>
              <a:rPr lang="zh-CN" altLang="en-US" sz="2400">
                <a:latin typeface="+mn-ea"/>
                <a:cs typeface="+mn-ea"/>
              </a:rPr>
              <a:t>功能包，功能包目录下新建</a:t>
            </a:r>
            <a:r>
              <a:rPr lang="en-US" altLang="zh-CN" sz="2400">
                <a:latin typeface="+mn-ea"/>
                <a:cs typeface="+mn-ea"/>
              </a:rPr>
              <a:t> msg </a:t>
            </a:r>
            <a:r>
              <a:rPr lang="zh-CN" altLang="en-US" sz="2400">
                <a:latin typeface="+mn-ea"/>
                <a:cs typeface="+mn-ea"/>
              </a:rPr>
              <a:t>文件夹，</a:t>
            </a:r>
            <a:r>
              <a:rPr lang="en-US" altLang="zh-CN" sz="2400">
                <a:latin typeface="+mn-ea"/>
                <a:cs typeface="+mn-ea"/>
              </a:rPr>
              <a:t>msg</a:t>
            </a:r>
            <a:r>
              <a:rPr lang="zh-CN" altLang="en-US" sz="2400">
                <a:latin typeface="+mn-ea"/>
                <a:cs typeface="+mn-ea"/>
              </a:rPr>
              <a:t>文件夹下新建</a:t>
            </a:r>
            <a:r>
              <a:rPr lang="en-US" altLang="zh-CN" sz="2400">
                <a:latin typeface="+mn-ea"/>
                <a:cs typeface="+mn-ea"/>
              </a:rPr>
              <a:t>MyMessage.msg</a:t>
            </a:r>
            <a:r>
              <a:rPr lang="zh-CN" altLang="en-US" sz="2400">
                <a:latin typeface="+mn-ea"/>
                <a:cs typeface="+mn-ea"/>
              </a:rPr>
              <a:t>文件，文件内容：</a:t>
            </a:r>
          </a:p>
          <a:p>
            <a:pPr marL="0" indent="0">
              <a:buNone/>
            </a:pP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数据类型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数据成员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</a:p>
          <a:p>
            <a:pPr marL="0" indent="0">
              <a:buNone/>
            </a:pP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数据类型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数据成员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</a:t>
            </a:r>
          </a:p>
          <a:p>
            <a:pPr marL="0" indent="0">
              <a:buNone/>
            </a:pP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……</a:t>
            </a:r>
          </a:p>
          <a:p>
            <a:pPr marL="0" indent="0">
              <a:buNone/>
            </a:pPr>
            <a:endParaRPr lang="en-US" altLang="zh-CN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buNone/>
            </a:pPr>
            <a:endParaRPr lang="en-US" altLang="zh-CN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684520" y="2696210"/>
          <a:ext cx="3751580" cy="3869690"/>
        </p:xfrm>
        <a:graphic>
          <a:graphicData uri="http://schemas.openxmlformats.org/drawingml/2006/table">
            <a:tbl>
              <a:tblPr/>
              <a:tblGrid>
                <a:gridCol w="187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570">
                <a:tc>
                  <a:txBody>
                    <a:bodyPr/>
                    <a:lstStyle/>
                    <a:p>
                      <a:pPr fontAlgn="b"/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数据类型 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描述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bool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布尔值（真</a:t>
                      </a:r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/</a:t>
                      </a:r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假）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byte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单个无符号字节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char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单个字符</a:t>
                      </a:r>
                    </a:p>
                  </a:txBody>
                  <a:tcPr marL="0" marR="0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float32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32</a:t>
                      </a:r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位单精度浮点数</a:t>
                      </a:r>
                    </a:p>
                  </a:txBody>
                  <a:tcPr marL="0" marR="0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float64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64</a:t>
                      </a:r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位双精度浮点数</a:t>
                      </a:r>
                    </a:p>
                  </a:txBody>
                  <a:tcPr marL="0" marR="0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int8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8</a:t>
                      </a:r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位有符号整数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uint8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8</a:t>
                      </a:r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位无符号整数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int16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16</a:t>
                      </a:r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位有符号整数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uint16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16</a:t>
                      </a:r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位无符号整数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int32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32</a:t>
                      </a:r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位有符号整数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uint32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32</a:t>
                      </a:r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位无符号整数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int64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64</a:t>
                      </a:r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位有符号整数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uint64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64</a:t>
                      </a:r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位无符号整数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fontAlgn="b"/>
                      <a:r>
                        <a:rPr lang="en-US" altLang="zh-CN" sz="1400">
                          <a:latin typeface="Arial" panose="020B0604020202020204"/>
                          <a:ea typeface="Arial" panose="020B0604020202020204"/>
                        </a:rPr>
                        <a:t>string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zh-CN" altLang="en-US" sz="1400">
                          <a:latin typeface="Arial" panose="020B0604020202020204"/>
                          <a:ea typeface="Arial" panose="020B0604020202020204"/>
                        </a:rPr>
                        <a:t>字符串</a:t>
                      </a:r>
                    </a:p>
                  </a:txBody>
                  <a:tcPr marL="16646" marR="16646" marT="11203" marB="11203" anchor="b">
                    <a:lnL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话题通信：自定义消息接口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5446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/>
              <a:t>2</a:t>
            </a:r>
            <a:r>
              <a:rPr lang="zh-CN" altLang="en-US" sz="2400"/>
              <a:t>、配置软件包依赖</a:t>
            </a:r>
          </a:p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r>
              <a:rPr lang="zh-CN" altLang="en-US" sz="2400">
                <a:sym typeface="+mn-ea"/>
              </a:rPr>
              <a:t>在接口软件包的</a:t>
            </a:r>
            <a:r>
              <a:rPr lang="en-US" altLang="zh-CN" sz="2400">
                <a:sym typeface="+mn-ea"/>
              </a:rPr>
              <a:t>package.xml</a:t>
            </a:r>
            <a:r>
              <a:rPr lang="zh-CN" altLang="en-US" sz="2400">
                <a:sym typeface="+mn-ea"/>
              </a:rPr>
              <a:t>中添加：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&lt;build_depend&gt;rosidl_default_generators&lt;/build_depend&gt;</a:t>
            </a:r>
          </a:p>
          <a:p>
            <a:pPr marL="0" indent="0"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&lt;exec_depend&gt;rosidl_default_runtime&lt;/exec_depend&gt;</a:t>
            </a:r>
          </a:p>
          <a:p>
            <a:pPr marL="0" indent="0"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&lt;member_of_group&gt;rosidl_interface_packages&lt;/member_of_group&gt;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话题通信：自定义消息接口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/>
              <a:t>3</a:t>
            </a:r>
            <a:r>
              <a:rPr lang="zh-CN" altLang="en-US" sz="2000"/>
              <a:t>、配置编译依赖</a:t>
            </a:r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在接口软件包的</a:t>
            </a:r>
            <a:r>
              <a:rPr lang="en-US" altLang="zh-CN" sz="2000">
                <a:sym typeface="+mn-ea"/>
              </a:rPr>
              <a:t>CMakeLists.txt</a:t>
            </a:r>
            <a:r>
              <a:rPr lang="zh-CN" altLang="en-US" sz="2000">
                <a:sym typeface="+mn-ea"/>
              </a:rPr>
              <a:t>中添加：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find_package(rosidl_default_generators REQUIRED)</a:t>
            </a:r>
            <a:endParaRPr lang="en-US" altLang="zh-CN" sz="200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zh-CN" sz="200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00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rosidl_generate_interfaces(${PROJECT_NAME}</a:t>
            </a:r>
            <a:endParaRPr lang="en-US" altLang="zh-CN" sz="200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00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"msg/MyMessage.msg"</a:t>
            </a:r>
            <a:endParaRPr lang="en-US" altLang="zh-CN" sz="200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00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DEPENDENCIES std_msgs  # </a:t>
            </a:r>
            <a:r>
              <a:rPr lang="zh-CN" altLang="en-US" sz="200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如果消息中使用了标准消息（如</a:t>
            </a:r>
            <a:r>
              <a:rPr lang="en-US" altLang="zh-CN" sz="200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std_msgs/Header</a:t>
            </a:r>
            <a:r>
              <a:rPr lang="zh-CN" altLang="en-US" sz="200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），需要添加依赖</a:t>
            </a:r>
            <a:endParaRPr lang="zh-CN" altLang="en-US" sz="200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000"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)</a:t>
            </a:r>
            <a:endParaRPr lang="en-US" altLang="zh-CN" sz="200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zh-CN" sz="2000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话题通信：自定义消息接口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4</a:t>
            </a:r>
            <a:r>
              <a:rPr lang="zh-CN" altLang="en-US"/>
              <a:t>、编译工作空间</a:t>
            </a: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5</a:t>
            </a:r>
            <a:r>
              <a:rPr lang="zh-CN" altLang="en-US"/>
              <a:t>、使用接口查看命令测试</a:t>
            </a: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ros2 interface show pkg_interfaces/msg/MyMessage</a:t>
            </a:r>
          </a:p>
          <a:p>
            <a:pPr marL="0" indent="0">
              <a:buNone/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6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、在需要使用接口的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源文件中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import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：</a:t>
            </a: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from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pkg_interfaces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.msg import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MyMessage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08915"/>
            <a:ext cx="10515600" cy="1325563"/>
          </a:xfrm>
        </p:spPr>
        <p:txBody>
          <a:bodyPr/>
          <a:lstStyle/>
          <a:p>
            <a:r>
              <a:rPr lang="zh-CN" altLang="en-US"/>
              <a:t>实验要求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5188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实验一：</a:t>
            </a:r>
          </a:p>
          <a:p>
            <a:pPr marL="0" indent="457200"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同时启动两个海龟模拟节点和两个海龟控制节点（启动命令详见上一节课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ppt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），要求实现两个控制节点可以各自分别控制一只海龟。</a:t>
            </a:r>
          </a:p>
          <a:p>
            <a:pPr marL="0" indent="0"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实验二：</a:t>
            </a:r>
          </a:p>
          <a:p>
            <a:pPr marL="0" indent="457200"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自定义机器人速度消息：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{x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方向速度、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方向速度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，编写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速度控制节点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距离计算节点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速度控制节点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负责定时（如每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秒）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发布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机器人速度信息，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距离计算节点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负责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订阅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速度信息并计算总的移动距离输出到控制台。</a:t>
            </a:r>
          </a:p>
          <a:p>
            <a:pPr marL="0" indent="457200"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提交要求：</a:t>
            </a:r>
          </a:p>
          <a:p>
            <a:pPr marL="0" lv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提交实验报告（包含实现的简单思路和结果截图）以及实验二的代码（包含整个工作空间）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c5125cdc921eb88b0df3e391cdaccc7e81bf0d6"/>
  <p:tag name="KSO_WM_NEWLAYOUT_ID" val="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"/>
  <p:tag name="KSO_WM_UNIT_TYPE" val="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95*302"/>
  <p:tag name="TABLE_ENDDRAG_RECT" val="447*214*295*302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1438</Words>
  <Application>Microsoft Office PowerPoint</Application>
  <PresentationFormat>宽屏</PresentationFormat>
  <Paragraphs>161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仿宋</vt:lpstr>
      <vt:lpstr>宋体</vt:lpstr>
      <vt:lpstr>Arial</vt:lpstr>
      <vt:lpstr>Calibri</vt:lpstr>
      <vt:lpstr>Consolas</vt:lpstr>
      <vt:lpstr>Times New Roman</vt:lpstr>
      <vt:lpstr>WPS</vt:lpstr>
      <vt:lpstr>ROS工作空间</vt:lpstr>
      <vt:lpstr>ROS软件包</vt:lpstr>
      <vt:lpstr>ROS软件包</vt:lpstr>
      <vt:lpstr>ROS计算图</vt:lpstr>
      <vt:lpstr>完全限定名称与命名空间</vt:lpstr>
      <vt:lpstr>完全限定名称与命名空间</vt:lpstr>
      <vt:lpstr>命名空间的设置和重映射</vt:lpstr>
      <vt:lpstr>话题通信：发布方实现（部分代码）</vt:lpstr>
      <vt:lpstr>话题通信：订阅方实现（部分代码）</vt:lpstr>
      <vt:lpstr>话题通信：自定义消息接口</vt:lpstr>
      <vt:lpstr>话题通信：自定义消息接口</vt:lpstr>
      <vt:lpstr>话题通信：自定义消息接口</vt:lpstr>
      <vt:lpstr>话题通信：自定义消息接口</vt:lpstr>
      <vt:lpstr>实验要求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59682</dc:creator>
  <cp:lastModifiedBy>子鑫 张</cp:lastModifiedBy>
  <cp:revision>46</cp:revision>
  <dcterms:created xsi:type="dcterms:W3CDTF">2023-08-09T12:44:00Z</dcterms:created>
  <dcterms:modified xsi:type="dcterms:W3CDTF">2025-11-07T06:18:37Z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4D4EE20BD83643A59362B86778CF144D_12</vt:lpwstr>
  </property>
</Properties>
</file>